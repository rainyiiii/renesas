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ebe3398a844c6d" /><Relationship Type="http://schemas.openxmlformats.org/officeDocument/2006/relationships/extended-properties" Target="/docProps/app.xml" Id="R65dbe04b2dc64905" /><Relationship Type="http://schemas.openxmlformats.org/officeDocument/2006/relationships/officeDocument" Target="/ppt/presentation.xml" Id="R393b8c9e384e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e505621024dd7"/>
  </p:sldMasterIdLst>
  <p:notesMasterIdLst>
    <p:notesMasterId xmlns:r="http://schemas.openxmlformats.org/officeDocument/2006/relationships" r:id="R191951992d374f95"/>
  </p:notesMasterIdLst>
  <p:sldIdLst>
    <p:sldId xmlns:r="http://schemas.openxmlformats.org/officeDocument/2006/relationships" id="256" r:id="Rc1bd9b9ddea54797"/>
    <p:sldId xmlns:r="http://schemas.openxmlformats.org/officeDocument/2006/relationships" id="257" r:id="R7ac7f1f22b6a4d72"/>
    <p:sldId xmlns:r="http://schemas.openxmlformats.org/officeDocument/2006/relationships" id="258" r:id="Rbec8f2e37ecd4007"/>
    <p:sldId xmlns:r="http://schemas.openxmlformats.org/officeDocument/2006/relationships" id="259" r:id="R52ce9e45c27541f9"/>
    <p:sldId xmlns:r="http://schemas.openxmlformats.org/officeDocument/2006/relationships" id="260" r:id="R9b7a7b1975784ced"/>
    <p:sldId xmlns:r="http://schemas.openxmlformats.org/officeDocument/2006/relationships" id="261" r:id="R44b2deeb4b464710"/>
    <p:sldId xmlns:r="http://schemas.openxmlformats.org/officeDocument/2006/relationships" id="262" r:id="R510e24df0a9340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c589f16d15497a" /><Relationship Type="http://schemas.openxmlformats.org/officeDocument/2006/relationships/slideMaster" Target="/ppt/slideMasters/slideMaster1.xml" Id="Rf6ce505621024dd7" /><Relationship Type="http://schemas.openxmlformats.org/officeDocument/2006/relationships/notesMaster" Target="/ppt/notesMasters/notesMaster1.xml" Id="R191951992d374f95" /><Relationship Type="http://schemas.openxmlformats.org/officeDocument/2006/relationships/presProps" Target="/ppt/presProps.xml" Id="R66e1bca2d9a848b8" /><Relationship Type="http://schemas.openxmlformats.org/officeDocument/2006/relationships/viewProps" Target="/ppt/viewProps.xml" Id="Raf7d80b0d1124076" /><Relationship Type="http://schemas.openxmlformats.org/officeDocument/2006/relationships/tableStyles" Target="/ppt/tableStyles.xml" Id="R7d86190111404b0d" /><Relationship Type="http://schemas.openxmlformats.org/officeDocument/2006/relationships/slide" Target="/ppt/slides/slide1.xml" Id="Rc1bd9b9ddea54797" /><Relationship Type="http://schemas.openxmlformats.org/officeDocument/2006/relationships/slide" Target="/ppt/slides/slide2.xml" Id="R7ac7f1f22b6a4d72" /><Relationship Type="http://schemas.openxmlformats.org/officeDocument/2006/relationships/slide" Target="/ppt/slides/slide3.xml" Id="Rbec8f2e37ecd4007" /><Relationship Type="http://schemas.openxmlformats.org/officeDocument/2006/relationships/slide" Target="/ppt/slides/slide4.xml" Id="R52ce9e45c27541f9" /><Relationship Type="http://schemas.openxmlformats.org/officeDocument/2006/relationships/slide" Target="/ppt/slides/slide5.xml" Id="R9b7a7b1975784ced" /><Relationship Type="http://schemas.openxmlformats.org/officeDocument/2006/relationships/slide" Target="/ppt/slides/slide6.xml" Id="R44b2deeb4b464710" /><Relationship Type="http://schemas.openxmlformats.org/officeDocument/2006/relationships/slide" Target="/ppt/slides/slide7.xml" Id="R510e24df0a9340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6df8d0eb143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91e4f971242f3" /><Relationship Type="http://schemas.openxmlformats.org/officeDocument/2006/relationships/notesMaster" Target="/ppt/notesMasters/notesMaster1.xml" Id="Re8981367587449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9afe854884d02" /><Relationship Type="http://schemas.openxmlformats.org/officeDocument/2006/relationships/notesMaster" Target="/ppt/notesMasters/notesMaster1.xml" Id="Rd85f4f986d8c4b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40856cef444c6" /><Relationship Type="http://schemas.openxmlformats.org/officeDocument/2006/relationships/notesMaster" Target="/ppt/notesMasters/notesMaster1.xml" Id="Rd6e692601d4f47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6cbd10a17049d3" /><Relationship Type="http://schemas.openxmlformats.org/officeDocument/2006/relationships/notesMaster" Target="/ppt/notesMasters/notesMaster1.xml" Id="Ra5b11f0261ca42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4bb97b32e24fcc" /><Relationship Type="http://schemas.openxmlformats.org/officeDocument/2006/relationships/notesMaster" Target="/ppt/notesMasters/notesMaster1.xml" Id="Rb13a52c267e4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038324341b4613" /><Relationship Type="http://schemas.openxmlformats.org/officeDocument/2006/relationships/notesMaster" Target="/ppt/notesMasters/notesMaster1.xml" Id="R81fd6737f0bb47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039c857e18463a" /><Relationship Type="http://schemas.openxmlformats.org/officeDocument/2006/relationships/notesMaster" Target="/ppt/notesMasters/notesMaster1.xml" Id="R8156d39377dc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我们没有把作品只定义为智能垃圾桶，而是把垃圾分拣作为 RA8P1 异构边缘智能能力的验证载体。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当前本地 RA8P1 双核工程与构建记录。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CPU0 的 M85 负责视觉主链路，CPU1 的 M33 负责低带宽服务；Ethos-U55 执行量化模型，SDRAM 与 TF 卡支撑数据闭环。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 FSP 配置、源代码和链接分区。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图像始终留在 M85 一侧，IPC 通道 0 只传 32 位触摸、称重、健康和心跳消息，这样避免跨核搬运整帧图像。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platform_services.c、m33_services.c 与双核 FSP 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模型输入为 192×192，只保留最高置信度目标。显示阈值 0.35，执行阈值 0.45，并要求连续 3 周期稳定。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当前视觉后处理和机器状态机参数。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执行前先对齐判定线，再锁定目标，完成输送、推料、回位和清场。目标短暂丢失不会立即重新触发，避免重复分拣。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当前非阻塞 machine_control 状态机。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扩展板按设备独立端子引出摄像头、屏幕、触摸、称重、舵机和步进接口，并采用统一信号地。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当前扩展板原理图、PCB 与现场接线文档。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CPU0 和 CPU1 均已编译通过，SDRAM 已完成初始化和读写，TF 卡能够按类别保存 192×192 图片。下一步重点是现场标定与长时间稳定性验证。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- 2026-08-20 双核构建记录与当前工程实现。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63a17fc3545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4f7f43f48b4b92" /><Relationship Type="http://schemas.openxmlformats.org/officeDocument/2006/relationships/slideLayout" Target="/ppt/slideLayouts/slideLayout1.xml" Id="R555f9bee7f6043e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f9bee7f60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6caba6d864eac" /><Relationship Type="http://schemas.openxmlformats.org/officeDocument/2006/relationships/image" Target="/ppt/media/image.jpeg" Id="Rbbe8a97a283e499d" /><Relationship Type="http://schemas.openxmlformats.org/officeDocument/2006/relationships/notesSlide" Target="/ppt/notesSlides/notesSlide1.xml" Id="R04cc30cf7ad9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44a314564ae8" /><Relationship Type="http://schemas.openxmlformats.org/officeDocument/2006/relationships/image" Target="/ppt/media/image2.jpeg" Id="R723e72c8371a4a2e" /><Relationship Type="http://schemas.openxmlformats.org/officeDocument/2006/relationships/notesSlide" Target="/ppt/notesSlides/notesSlide2.xml" Id="Rd550780750d8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8002a70d64677" /><Relationship Type="http://schemas.openxmlformats.org/officeDocument/2006/relationships/image" Target="/ppt/media/image.png" Id="Rb0a305d3f83649ee" /><Relationship Type="http://schemas.openxmlformats.org/officeDocument/2006/relationships/image" Target="/ppt/media/image2.png" Id="R2323a4cb1ec94bfe" /><Relationship Type="http://schemas.openxmlformats.org/officeDocument/2006/relationships/notesSlide" Target="/ppt/notesSlides/notesSlide3.xml" Id="R590339e0578a4b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eccb95a74707" /><Relationship Type="http://schemas.openxmlformats.org/officeDocument/2006/relationships/image" Target="/ppt/media/image3.png" Id="R710fa16fca374b71" /><Relationship Type="http://schemas.openxmlformats.org/officeDocument/2006/relationships/notesSlide" Target="/ppt/notesSlides/notesSlide4.xml" Id="Re083ab3421404d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dfedaa1ed40a6" /><Relationship Type="http://schemas.openxmlformats.org/officeDocument/2006/relationships/image" Target="/ppt/media/image4.png" Id="R73f53f74af7c4c46" /><Relationship Type="http://schemas.openxmlformats.org/officeDocument/2006/relationships/notesSlide" Target="/ppt/notesSlides/notesSlide5.xml" Id="Rc76ff5f1579e48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e1af3d230414d" /><Relationship Type="http://schemas.openxmlformats.org/officeDocument/2006/relationships/image" Target="/ppt/media/image5.png" Id="Re3e24e3a9dc94a89" /><Relationship Type="http://schemas.openxmlformats.org/officeDocument/2006/relationships/image" Target="/ppt/media/image6.png" Id="Rc1baf8ae8ba94f4f" /><Relationship Type="http://schemas.openxmlformats.org/officeDocument/2006/relationships/notesSlide" Target="/ppt/notesSlides/notesSlide6.xml" Id="R21d9a27540a54b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f678847446ac" /><Relationship Type="http://schemas.openxmlformats.org/officeDocument/2006/relationships/notesSlide" Target="/ppt/notesSlides/notesSlide7.xml" Id="R86e089bbbad943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373D64-3428-422E-B810-96D75851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FCB71AA-49D1-49CF-9F2F-C31139F0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RA8P1 异构边缘智能与智能分拣平台</a:t>
            </a:r>
            <a:endParaRPr sz="420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754926C-6FC7-4546-B795-542FC389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M85/M33 双核协同 · Ethos-U55 NPU · SDRAM</a:t>
            </a:r>
            <a:endParaRPr sz="1875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DE6748-2CF0-49E0-863C-ED94678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感知 · 推理 · 服务 · 执行 · 数据回流</a:t>
            </a:r>
            <a:endParaRPr sz="1425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AE6DAA-9150-401D-ACD5-64E36D6E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A86141-5DDD-407A-BC38-A51F8441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全国大学生电子设计竞赛信息科技前沿专题赛 · 瑞萨杯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7607FA6-3155-4E5E-B170-03B82D3C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14350"/>
            <a:ext cx="5076825" cy="5715000"/>
          </a:xfrm>
          <a:prstGeom xmlns:a="http://schemas.openxmlformats.org/drawingml/2006/main" prst="roundRect">
            <a:avLst>
              <a:gd name="adj" fmla="val 3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19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8a97a283e49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0441" y="685800"/>
            <a:ext cx="4508993" cy="5372100"/>
          </a:xfrm>
          <a:prstGeom xmlns:a="http://schemas.openxmlformats.org/drawingml/2006/main" prst="roundRect">
            <a:avLst>
              <a:gd name="adj" fmla="val 2414"/>
            </a:avLst>
          </a:prstGeom>
        </p:spPr>
      </p:pic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8468BDC-A95C-47B3-8CC6-A4522B1D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246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900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9732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1DA5F7-A172-430B-ACAB-471DA803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核心方案</a:t>
            </a:r>
            <a:endParaRPr sz="105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0219BEC-E10B-4B1F-934C-9C74D3BF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RA8P1 双核协同完成视觉、服务与机电控制</a:t>
            </a:r>
            <a:endParaRPr sz="28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E9D3AF-4BA1-4D77-893A-7BE93A1D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975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A9C5BE02-360C-4680-A345-8C5317F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905500" cy="44767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e72c8371a4a2e"/>
          <a:srcRect xmlns:a="http://schemas.openxmlformats.org/drawingml/2006/main" l="0" t="3603" r="0" b="3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600200"/>
            <a:ext cx="5524500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A27C03-EFD0-4CC8-91FC-578164D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Cortex-M85 / CPU0</a:t>
            </a:r>
            <a:endParaRPr sz="217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8E88055-5F00-453D-AC79-2285AC2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9547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视觉采集、NPU调度、显示、存储与分拣状态机</a:t>
            </a:r>
            <a:endParaRPr sz="1275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C4FC7B-808D-4FC2-8F16-5AB438D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125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100503E8-111D-4712-9B96-A5EEDD07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38100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763F7E2-7FE2-4FA9-88D7-6BBDF829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812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Cortex-M33 / CPU1</a:t>
            </a:r>
            <a:endParaRPr sz="16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BFC6B2-6550-4C65-9CF2-F33F8AB8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241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触摸、称重、健康监测与掉线降级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91B70AE-CA38-41A8-9B43-91FA8488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052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125" b="1">
              <a:solidFill>
                <a:srgbClr val="F9731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FB804F9B-AAE4-49F0-B291-98C612A1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38100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63959BF-4724-4FD7-9BCE-8929BF2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956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Ethos-U55 + SDRAM</a:t>
            </a:r>
            <a:endParaRPr sz="16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899EF1B-4F38-494E-A478-D5EC323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385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192×192 int8 推理；128 MB 外部内存已可用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5FEA8D7-77E4-495F-A8EE-50ACBAF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E9D6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E9D6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125" b="1">
              <a:solidFill>
                <a:srgbClr val="2E9D6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FC8CBFA-7FDE-4F33-B0D9-D22466F9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38100" cy="581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9A02F6E-6931-4312-BF22-5BD0A718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007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32 位 IPC 通信</a:t>
            </a:r>
            <a:endParaRPr sz="16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CE6871-5761-4DE1-88A8-8A74A814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7529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跨核只传触摸、称重、健康与心跳小数据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EF47A36-E812-484C-A8F2-DE087AF5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91150"/>
            <a:ext cx="4191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8EB1F33-E51F-4076-B916-51A9EFD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959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图像留在 M85 侧，M33 独立服务，避免跨核搬运大帧</a:t>
            </a:r>
            <a:endParaRPr sz="1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A6A7A39-06F0-4EAD-A5FF-FD52CDD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AEB7BE3-358D-484B-A39B-51241AB2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8163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379E8D4-6706-4D82-BE1F-530930F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系统架构</a:t>
            </a:r>
            <a:endParaRPr sz="105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DF410D5-10FE-4996-9F6C-04DA21C4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M85、M33 与 Ethos-U55 构成异构边缘智能闭环</a:t>
            </a:r>
            <a:endParaRPr sz="28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7F2A94-2242-4B9B-8D31-A099B814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975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8AE969CE-38D0-4C35-BD7B-B1EA60C0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1090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305d3f836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2250" y="1495425"/>
            <a:ext cx="6667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5C7ABAF3-479A-4C6B-80C9-5A36FF5B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10109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729DEC-9332-48FF-856A-66F6FE3D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9912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OV5640 / CEU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4A99080-D92C-4FB8-8263-A6CBA76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9912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DD3F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Ethos-U55 / YOLO</a:t>
            </a:r>
            <a:endParaRPr sz="1125" b="1">
              <a:solidFill>
                <a:srgbClr val="7DD3F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83FBCF5-5D44-484F-9D3F-D9777233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912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DBA74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DBA74"/>
                </a:solidFill>
                <a:latin typeface="微软雅黑"/>
                <a:ea typeface="微软雅黑"/>
                <a:cs typeface="微软雅黑"/>
              </a:rPr>
              <a:t>IPC / M33 服务</a:t>
            </a:r>
            <a:endParaRPr sz="1125" b="1">
              <a:solidFill>
                <a:srgbClr val="FDBA7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7F484A-D240-4A2A-B6A2-AB0A505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991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86EFA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86EFAC"/>
                </a:solidFill>
                <a:latin typeface="微软雅黑"/>
                <a:ea typeface="微软雅黑"/>
                <a:cs typeface="微软雅黑"/>
              </a:rPr>
              <a:t>SDRAM · TF卡 · 执行器</a:t>
            </a:r>
            <a:endParaRPr sz="1125" b="1">
              <a:solidFill>
                <a:srgbClr val="86EFA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" name="F360BE8B-6686-4F3D-AEAF-501FE73E4058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3a4cb1ec9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0825" y="2051050"/>
            <a:ext cx="6688455" cy="3051175"/>
          </a:xfrm>
          <a:prstGeom xmlns:a="http://schemas.openxmlformats.org/drawingml/2006/main" prst="rect">
            <a:avLst/>
          </a:prstGeom>
        </p:spPr>
      </p:pic>
      <p:sp>
        <p:nvSpPr>
          <p:cNvPr id="14" name="dual-core-diagram-cover">
            <a:extLst xmlns:a="http://schemas.openxmlformats.org/drawingml/2006/main">
              <a:ext uri="{FF2B5EF4-FFF2-40B4-BE49-F238E27FC236}">
                <a16:creationId xmlns:a16="http://schemas.microsoft.com/office/drawing/2014/main" id="{418EC2EA-58A2-4F3C-B6EC-DDBB0FE1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47875"/>
            <a:ext cx="66865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camera-node">
            <a:extLst xmlns:a="http://schemas.openxmlformats.org/drawingml/2006/main">
              <a:ext uri="{FF2B5EF4-FFF2-40B4-BE49-F238E27FC236}">
                <a16:creationId xmlns:a16="http://schemas.microsoft.com/office/drawing/2014/main" id="{99EF952A-5832-4EFB-A9D9-03F31CCF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57450"/>
            <a:ext cx="12573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60A5FA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OV5640</a:t>
            </a:r>
          </a:p>
          <a:p xmlns:a="http://schemas.openxmlformats.org/drawingml/2006/main">
            <a:pPr algn="ctr">
              <a:def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CEU 采集</a:t>
            </a:r>
          </a:p>
        </p:txBody>
      </p:sp>
      <p:sp>
        <p:nvSpPr>
          <p:cNvPr id="16" name="display-node">
            <a:extLst xmlns:a="http://schemas.openxmlformats.org/drawingml/2006/main">
              <a:ext uri="{FF2B5EF4-FFF2-40B4-BE49-F238E27FC236}">
                <a16:creationId xmlns:a16="http://schemas.microsoft.com/office/drawing/2014/main" id="{E227B62F-BA39-4A74-91AD-899ADBAB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12573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34D399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ILI9488</a:t>
            </a:r>
          </a:p>
          <a:p xmlns:a="http://schemas.openxmlformats.org/drawingml/2006/main">
            <a:pPr algn="ctr">
              <a:defRPr sz="10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屏幕显示</a:t>
            </a:r>
          </a:p>
        </p:txBody>
      </p:sp>
      <p:sp>
        <p:nvSpPr>
          <p:cNvPr id="17" name="m85-node">
            <a:extLst xmlns:a="http://schemas.openxmlformats.org/drawingml/2006/main">
              <a:ext uri="{FF2B5EF4-FFF2-40B4-BE49-F238E27FC236}">
                <a16:creationId xmlns:a16="http://schemas.microsoft.com/office/drawing/2014/main" id="{83ABE125-3E13-49D3-8D26-D5D3E696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3625"/>
            <a:ext cx="1714500" cy="933450"/>
          </a:xfrm>
          <a:prstGeom xmlns:a="http://schemas.openxmlformats.org/drawingml/2006/main" prst="roundRect">
            <a:avLst>
              <a:gd name="adj" fmla="val 9184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284C7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Cortex-M85 / CPU0</a:t>
            </a:r>
          </a:p>
          <a:p xmlns:a="http://schemas.openxmlformats.org/drawingml/2006/main">
            <a:pPr algn="ctr">
              <a:def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图像 · NPU · 状态机</a:t>
            </a:r>
          </a:p>
          <a:p xmlns:a="http://schemas.openxmlformats.org/drawingml/2006/main">
            <a:pPr algn="ctr">
              <a:def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C4A6E"/>
                </a:solidFill>
                <a:latin typeface="Microsoft YaHei"/>
                <a:ea typeface="Microsoft YaHei"/>
                <a:cs typeface="Microsoft YaHei"/>
              </a:rPr>
              <a:t>SDHI / FatFs</a:t>
            </a:r>
          </a:p>
        </p:txBody>
      </p:sp>
      <p:sp>
        <p:nvSpPr>
          <p:cNvPr id="18" name="ethosu-node">
            <a:extLst xmlns:a="http://schemas.openxmlformats.org/drawingml/2006/main">
              <a:ext uri="{FF2B5EF4-FFF2-40B4-BE49-F238E27FC236}">
                <a16:creationId xmlns:a16="http://schemas.microsoft.com/office/drawing/2014/main" id="{8F230C36-461A-4396-95AA-43831488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09825"/>
            <a:ext cx="1381125" cy="78105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B923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Ethos-U55 NPU</a:t>
            </a:r>
          </a:p>
          <a:p xmlns:a="http://schemas.openxmlformats.org/drawingml/2006/main">
            <a:pPr algn="ctr">
              <a:def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192×192 int8</a:t>
            </a:r>
          </a:p>
        </p:txBody>
      </p:sp>
      <p:sp>
        <p:nvSpPr>
          <p:cNvPr id="19" name="ipc-node">
            <a:extLst xmlns:a="http://schemas.openxmlformats.org/drawingml/2006/main">
              <a:ext uri="{FF2B5EF4-FFF2-40B4-BE49-F238E27FC236}">
                <a16:creationId xmlns:a16="http://schemas.microsoft.com/office/drawing/2014/main" id="{08F54A12-0612-4EFF-8697-BD24D5B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38525"/>
            <a:ext cx="10477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333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8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IPC CH0</a:t>
            </a:r>
          </a:p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32 bit</a:t>
            </a:r>
          </a:p>
        </p:txBody>
      </p:sp>
      <p:sp>
        <p:nvSpPr>
          <p:cNvPr id="20" name="m33-node">
            <a:extLst xmlns:a="http://schemas.openxmlformats.org/drawingml/2006/main">
              <a:ext uri="{FF2B5EF4-FFF2-40B4-BE49-F238E27FC236}">
                <a16:creationId xmlns:a16="http://schemas.microsoft.com/office/drawing/2014/main" id="{E9EF44E7-FAEB-42D5-9872-CE3A1A9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71450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3335">
            <a:solidFill>
              <a:srgbClr val="10B981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Cortex-M33 / CPU1</a:t>
            </a:r>
          </a:p>
          <a:p xmlns:a="http://schemas.openxmlformats.org/drawingml/2006/main">
            <a:pPr algn="ctr">
              <a:def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触摸 · 称重</a:t>
            </a:r>
          </a:p>
          <a:p xmlns:a="http://schemas.openxmlformats.org/drawingml/2006/main">
            <a:pPr algn="ctr">
              <a:def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健康监测</a:t>
            </a:r>
          </a:p>
        </p:txBody>
      </p:sp>
      <p:sp>
        <p:nvSpPr>
          <p:cNvPr id="21" name="storage-node">
            <a:extLst xmlns:a="http://schemas.openxmlformats.org/drawingml/2006/main">
              <a:ext uri="{FF2B5EF4-FFF2-40B4-BE49-F238E27FC236}">
                <a16:creationId xmlns:a16="http://schemas.microsoft.com/office/drawing/2014/main" id="{2F1801FA-E830-4435-AF3A-6FC43E2B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48100"/>
            <a:ext cx="13811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3335">
            <a:solidFill>
              <a:srgbClr val="8B5CF6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128 MB SDRAM</a:t>
            </a:r>
          </a:p>
          <a:p xmlns:a="http://schemas.openxmlformats.org/drawingml/2006/main">
            <a:pPr algn="ctr">
              <a:defRPr sz="10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21B6"/>
                </a:solidFill>
                <a:latin typeface="Microsoft YaHei"/>
                <a:ea typeface="Microsoft YaHei"/>
                <a:cs typeface="Microsoft YaHei"/>
              </a:rPr>
              <a:t>TF 卡拍照</a:t>
            </a:r>
          </a:p>
        </p:txBody>
      </p:sp>
      <p:sp>
        <p:nvSpPr>
          <p:cNvPr id="22" name="actuator-node">
            <a:extLst xmlns:a="http://schemas.openxmlformats.org/drawingml/2006/main">
              <a:ext uri="{FF2B5EF4-FFF2-40B4-BE49-F238E27FC236}">
                <a16:creationId xmlns:a16="http://schemas.microsoft.com/office/drawing/2014/main" id="{66B30C1E-897C-4380-A93F-0FFF257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14850"/>
            <a:ext cx="8763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B923C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步进 / 舵机</a:t>
            </a:r>
          </a:p>
          <a:p xmlns:a="http://schemas.openxmlformats.org/drawingml/2006/main">
            <a:pPr algn="ctr">
              <a:def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A3412"/>
                </a:solidFill>
                <a:latin typeface="Microsoft YaHei"/>
                <a:ea typeface="Microsoft YaHei"/>
                <a:cs typeface="Microsoft YaHei"/>
              </a:rPr>
              <a:t>执行机构</a:t>
            </a:r>
          </a:p>
        </p:txBody>
      </p: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305300" y="2752725"/>
            <a:ext cx="4572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305300" y="2800350"/>
            <a:ext cx="45720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477000" y="28003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97316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619750" y="32670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619750" y="38957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dash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477000" y="2800350"/>
            <a:ext cx="48577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3AE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477000" y="4533900"/>
            <a:ext cx="193357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30" name="dual-core-caption">
            <a:extLst xmlns:a="http://schemas.openxmlformats.org/drawingml/2006/main">
              <a:ext uri="{FF2B5EF4-FFF2-40B4-BE49-F238E27FC236}">
                <a16:creationId xmlns:a16="http://schemas.microsoft.com/office/drawing/2014/main" id="{9650153E-554B-4705-8EE4-76099A31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958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视觉主链路与服务链路解耦，IPC 只传小数据</a:t>
            </a:r>
          </a:p>
        </p:txBody>
      </p:sp>
    </p:spTree>
    <p:extLst>
      <p:ext uri="{BB962C8B-B14F-4D97-AF65-F5344CB8AC3E}">
        <p14:creationId xmlns:p14="http://schemas.microsoft.com/office/powerpoint/2010/main" val="1956889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217A4CC-C638-4FBB-BBC8-7D72477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边缘智能</a:t>
            </a:r>
            <a:endParaRPr sz="105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0A94F6-B0B5-43A0-94B0-5C00D75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192×192 量化模型只锁定最高置信度目标</a:t>
            </a:r>
            <a:endParaRPr sz="28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D60B98B-FD05-4BFB-9427-DF7B1FD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975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8C163A29-7619-40C1-A3B2-CD5B9D03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7239000" cy="4362450"/>
          </a:xfrm>
          <a:prstGeom xmlns:a="http://schemas.openxmlformats.org/drawingml/2006/main" prst="roundRect">
            <a:avLst>
              <a:gd name="adj" fmla="val 218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fa16fca374b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2132610"/>
            <a:ext cx="6819900" cy="2878529"/>
          </a:xfrm>
          <a:prstGeom xmlns:a="http://schemas.openxmlformats.org/drawingml/2006/main" prst="rect">
            <a:avLst/>
          </a:prstGeom>
        </p:spPr>
      </p:pic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B6F067C-76EC-45B2-9225-5BF7AEC7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382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只采用最高置信度目标</a:t>
            </a:r>
            <a:endParaRPr sz="172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65FCE1F-758C-4AFC-8049-63C837CE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显示阈值 0.35，执行阈值 0.45，连续 3 周期确认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E968C29-06F1-4156-A06D-8ABEB205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33350" cy="4572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439BADF-358D-4A01-846B-6F46F50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有害垃圾</a:t>
            </a:r>
            <a:endParaRPr sz="142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C4638D2-CCCC-47D4-B0BC-4B431F3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HARM</a:t>
            </a:r>
            <a:endParaRPr sz="900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740919D-A621-4036-AA33-26F5CD49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133350" cy="4572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9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0BC9690-964E-4F19-B26A-BE63709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厨余垃圾</a:t>
            </a:r>
            <a:endParaRPr sz="142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D50B73E-32AB-4FB7-8C64-ADFDB30B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KITCHEN</a:t>
            </a:r>
            <a:endParaRPr sz="900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A0E61ED-1561-418C-8845-56127AE0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133350" cy="4572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8D1A8CB-BE32-449C-9B12-15C46677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可回收物</a:t>
            </a:r>
            <a:endParaRPr sz="142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90A343-3A7F-456D-B74D-0CFBE2B2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76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RECOVER</a:t>
            </a:r>
            <a:endParaRPr sz="900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A69799B-0E32-4DC2-9825-8BB91CE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133350" cy="4572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B9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E36A0A-AB6D-4712-9B41-693E2110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其他垃圾</a:t>
            </a:r>
            <a:endParaRPr sz="1425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4C47BC-C204-474C-87D0-E9212DC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OTHER</a:t>
            </a:r>
            <a:endParaRPr sz="900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0267A98-D7E1-4509-8AA8-14C7351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626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6711CD8-650D-4CB7-B7D9-B66876EF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95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本地推理 · 最高目标唯一 · 识别结果直接进入控制闭环</a:t>
            </a:r>
            <a:endParaRPr sz="120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F8C0A08-978D-440B-954C-81372631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53F85FC-8FB6-48DA-ABA7-7DDBE4B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83426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279FDB2-8FF3-435E-B1C8-BFFAB9E7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分拣闭环</a:t>
            </a:r>
            <a:endParaRPr sz="105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165527-5394-4AC7-80E7-804EFA82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识别结果经过对齐、锁定和清场才驱动机构</a:t>
            </a:r>
            <a:endParaRPr sz="28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218834-9F11-4735-BE44-979F6492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975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CEC6203-06A5-418B-B649-675C70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69E0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500" b="1">
              <a:solidFill>
                <a:srgbClr val="1769E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87EF59D1-C1E3-4611-BBC4-8F12DDD4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24000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6284F0-246E-4E4C-9F97-9659E319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763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识别锁定</a:t>
            </a:r>
            <a:endParaRPr sz="180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B37F2AB-CB6D-4938-9409-38676C3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859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最高目标连续 3 周期确认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0C25CD-142E-4F65-91EF-CC639DD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97316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500" b="1">
              <a:solidFill>
                <a:srgbClr val="F9731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1D74868-FD29-401D-8BA4-31FAAAB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1155B30-AB23-4713-B904-FE142CD5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336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视觉对齐</a:t>
            </a:r>
            <a:endParaRPr sz="180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0919E05-FA2D-4C25-9D16-E401BC39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判定线 160 ± 12 px 双向对齐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4A650C6-2D03-45D5-AF5C-183B921F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9D6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E9D67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500" b="1">
              <a:solidFill>
                <a:srgbClr val="2E9D6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42F863DC-DF55-436E-BD9E-306D23B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3810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71414FC-0372-47E4-82DA-3B762315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909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输送与推料</a:t>
            </a:r>
            <a:endParaRPr sz="180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BF3D73-0BD7-418C-850B-0DEC1925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6472"/>
                </a:solidFill>
                <a:latin typeface="微软雅黑"/>
                <a:ea typeface="微软雅黑"/>
                <a:cs typeface="微软雅黑"/>
              </a:rPr>
              <a:t>前进、推料、回位与清场闭环</a:t>
            </a:r>
            <a:endParaRPr sz="1200" b="0">
              <a:solidFill>
                <a:srgbClr val="5B647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73704A66-B354-40C7-B48A-3E50ADB5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90650"/>
            <a:ext cx="6838950" cy="4610100"/>
          </a:xfrm>
          <a:prstGeom xmlns:a="http://schemas.openxmlformats.org/drawingml/2006/main" prst="roundRect">
            <a:avLst>
              <a:gd name="adj" fmla="val 2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pic>
        <p:nvPicPr>
          <p:cNvPr id="40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53f74af7c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956294"/>
            <a:ext cx="6457950" cy="3440711"/>
          </a:xfrm>
          <a:prstGeom xmlns:a="http://schemas.openxmlformats.org/drawingml/2006/main" prst="rect">
            <a:avLst/>
          </a:prstGeom>
        </p:spPr>
      </p:pic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AB9BA57-3303-484A-8630-0A9EADA4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38775"/>
            <a:ext cx="3714750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635FA43-6D0A-4E6C-BA41-8161976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非阻塞状态机持续刷新相机、触摸与健康监测；RETURN / CLEAR 后才重新识别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1ADBF6-0EB7-422C-90AD-0821824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B18349-D4CB-4A50-997F-9EC0DE0D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38744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745FB8-A824-4BF2-8DFB-11B8F919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sz="975" b="1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975" b="1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52E1B6-0738-49D6-BB1D-528B9A40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440A95-B01F-462B-9382-7A889E2E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A94A3"/>
                </a:solidFill>
                <a:latin typeface="微软雅黑"/>
                <a:ea typeface="微软雅黑"/>
                <a:cs typeface="微软雅黑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24e3a9dc94a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" y="1000125"/>
            <a:ext cx="5391150" cy="5410200"/>
          </a:xfrm>
          <a:prstGeom xmlns:a="http://schemas.openxmlformats.org/drawingml/2006/main" prst="rect">
            <a:avLst/>
          </a:prstGeom>
        </p:spPr>
      </p:pic>
      <p:pic>
        <p:nvPicPr>
          <p:cNvPr id="31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af8ae8ba94f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0055" y="1700530"/>
            <a:ext cx="5286375" cy="3971925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B055D40-BD12-4011-951A-C07C772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35306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111827"/>
                </a:solidFill>
                <a:latin typeface="微软雅黑"/>
                <a:ea typeface="微软雅黑"/>
                <a:cs typeface="微软雅黑"/>
              </a:rPr>
              <a:t>自制扩展板统一引出视觉、交互、存储与执行器接口</a:t>
            </a:r>
            <a:endParaRPr sz="2850" b="1">
              <a:solidFill>
                <a:srgbClr val="111827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02328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E16B46-5783-4E45-A378-D52381B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DBE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8DBEFF"/>
                </a:solidFill>
                <a:latin typeface="微软雅黑"/>
                <a:ea typeface="微软雅黑"/>
                <a:cs typeface="微软雅黑"/>
              </a:rPr>
              <a:t>作品价值</a:t>
            </a:r>
            <a:endParaRPr sz="1050" b="1">
              <a:solidFill>
                <a:srgbClr val="8DBE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449945-4C4C-4B05-B630-C6D0AE9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垃圾分拣是载体，RA8P1 系统能力才是核心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99FE80B-D36D-4912-B216-37E9B23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7CFD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C7CFDA"/>
                </a:solidFill>
                <a:latin typeface="微软雅黑"/>
                <a:ea typeface="微软雅黑"/>
                <a:cs typeface="微软雅黑"/>
              </a:rPr>
              <a:t>从像素到动作，再到现场数据回流，形成完整可演示闭环。</a:t>
            </a:r>
            <a:endParaRPr sz="1425" b="0">
              <a:solidFill>
                <a:srgbClr val="C7CFD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4B423F2E-E260-4340-BBC4-A74BDEA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3718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1A2230"/>
          </a:solidFill>
          <a:ln xmlns:a="http://schemas.openxmlformats.org/drawingml/2006/main" w="9525">
            <a:solidFill>
              <a:srgbClr val="303B4A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7B96228-A178-4300-9027-61BE147A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371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9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1D74CC-CA95-4510-A93C-AA81AB3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4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F7CCF9-6BD5-47DF-8AB1-9A418CF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rPr>
              <a:t>核协同</a:t>
            </a:r>
            <a:endParaRPr sz="1725" b="1">
              <a:solidFill>
                <a:srgbClr val="DCE2E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E38D4D8-B8E4-40CC-856F-53AC6F41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rPr>
              <a:t>M85 视觉主核 + M33 服务核</a:t>
            </a:r>
            <a:endParaRPr sz="1200" b="0">
              <a:solidFill>
                <a:srgbClr val="AEB7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3AFE1E4-F850-42A5-A214-B1F30CC1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33718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1A2230"/>
          </a:solidFill>
          <a:ln xmlns:a="http://schemas.openxmlformats.org/drawingml/2006/main" w="9525">
            <a:solidFill>
              <a:srgbClr val="303B4A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BB487DB2-C487-4088-8E96-DF89B1D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33625"/>
            <a:ext cx="3371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8726D8E-2344-40C7-B487-786C12B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066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128</a:t>
            </a:r>
            <a:endParaRPr sz="4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CC452FD-9A96-42A8-90DB-79ADE83C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rPr>
              <a:t>MB SDRAM</a:t>
            </a:r>
            <a:endParaRPr sz="1725" b="1">
              <a:solidFill>
                <a:srgbClr val="DCE2E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548BB85-2613-4940-9A97-E58D006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rPr>
              <a:t>已完成初始化与读写验证</a:t>
            </a:r>
            <a:endParaRPr sz="1200" b="0">
              <a:solidFill>
                <a:srgbClr val="AEB7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6BAB9DC-5878-4505-9FA6-934E1331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37185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1A2230"/>
          </a:solidFill>
          <a:ln xmlns:a="http://schemas.openxmlformats.org/drawingml/2006/main" w="9525">
            <a:solidFill>
              <a:srgbClr val="303B4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28C1DEB2-20EC-4204-ACB4-80B0EC8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3718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8223772-B6C1-455D-8F3C-7C610ABB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95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43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CCD036-F3F8-47DA-8C91-05028CD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DCE2EA"/>
                </a:solidFill>
                <a:latin typeface="微软雅黑"/>
                <a:ea typeface="微软雅黑"/>
                <a:cs typeface="微软雅黑"/>
              </a:rPr>
              <a:t>套闭环</a:t>
            </a:r>
            <a:endParaRPr sz="1725" b="1">
              <a:solidFill>
                <a:srgbClr val="DCE2E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2433413-4945-49A4-92B3-522C9CEA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766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AEB7C5"/>
                </a:solidFill>
                <a:latin typeface="微软雅黑"/>
                <a:ea typeface="微软雅黑"/>
                <a:cs typeface="微软雅黑"/>
              </a:rPr>
              <a:t>触摸、称重、执行与 TF 数据闭环</a:t>
            </a:r>
            <a:endParaRPr sz="1200" b="0">
              <a:solidFill>
                <a:srgbClr val="AEB7C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DCC18A-D9F9-4CEC-B793-464AC37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41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79338CF-7D36-4B01-842B-E046483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FABC0DE-B645-4F57-8136-461CB09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DBE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8DBEFF"/>
                </a:solidFill>
                <a:latin typeface="微软雅黑"/>
                <a:ea typeface="微软雅黑"/>
                <a:cs typeface="微软雅黑"/>
              </a:rPr>
              <a:t>可迁移到零件、农产品与缺陷检测等边缘智能场景</a:t>
            </a:r>
            <a:endParaRPr sz="1200" b="1">
              <a:solidFill>
                <a:srgbClr val="8DBE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6577D34-B131-4344-BA8C-FF23E8A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78293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778293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900" b="1">
              <a:solidFill>
                <a:srgbClr val="77829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45692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2026-08-19T19:06:42.7380000Z</dcterms:created>
  <dcterms:modified xsi:type="dcterms:W3CDTF">2026-08-19T19:06:42.7380000Z</dcterms:modified>
</coreProperties>
</file>