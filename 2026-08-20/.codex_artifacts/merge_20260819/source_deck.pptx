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3" r:id="rId9"/>
    <p:sldId id="261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各位评委老师好，我们的作品是基于瑞萨 RA8P1 的智能垃圾分类分拣系统。它把摄像头识别、屏幕交互、传送带控制和分类执行集中到一颗主控上，目标是完成从看见垃圾到完成分拣的完整闭环。</a:t>
            </a:r>
          </a:p>
          <a:p/>
          <a:p>
            <a:r>
              <a:t>[Sources]</a:t>
            </a:r>
          </a:p>
          <a:p>
            <a:r>
              <a:t>- D:/RA/second/rainy/工程对接文档.md</a:t>
            </a:r>
          </a:p>
          <a:p>
            <a:r>
              <a:t>- D:/RA/second/rainy/ppt_build/assets/machine_cad.jpg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系统以 RA8P1 作为整机控制核心。Cortex-M85 负责实时任务调度和机电状态机，Ethos-U55 NPU 负责量化模型推理；同时通过片上外设连接摄像头、显示屏、触摸、称重模块、步进电机和舵机，使识别结果可以直接转化为分拣动作。</a:t>
            </a:r>
          </a:p>
          <a:p/>
          <a:p>
            <a:r>
              <a:t>[Sources]</a:t>
            </a:r>
          </a:p>
          <a:p>
            <a:r>
              <a:t>- D:/RA/second/rainy/工程对接文档.md</a:t>
            </a:r>
          </a:p>
          <a:p>
            <a:r>
              <a:t>- D:/RA/second/rainy/ppt_build/assets/hardware_bench.jpg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数据流从 OV5640 开始，由 CEU 采集 RGB565 图像；图像预处理后送入 Ethos-U55 推理；识别结果再进入控制状态机，驱动步进电机和舵机，同时更新 ILI9488 屏幕。触摸和 TF 卡还提供模式控制与现场数据采集。</a:t>
            </a:r>
          </a:p>
          <a:p/>
          <a:p>
            <a:r>
              <a:t>[Sources]</a:t>
            </a:r>
          </a:p>
          <a:p>
            <a:r>
              <a:t>- D:/RA/second/rainy/report_work/final_media/image1.png</a:t>
            </a:r>
          </a:p>
          <a:p>
            <a:r>
              <a:t>- D:/RA/second/rainy/src/hal_entry.c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识别侧使用 192 乘 192 的 int8 量化模型，在 Ethos-U55 上离线运行，输出有害、厨余、可回收和其他四类。系统只保留当前概率最高的目标，并通过连续帧确认和阈值过滤后再触发动作，避免画面中多个目标同时干扰控制。</a:t>
            </a:r>
          </a:p>
          <a:p/>
          <a:p>
            <a:r>
              <a:t>[Sources]</a:t>
            </a:r>
          </a:p>
          <a:p>
            <a:r>
              <a:t>- D:/RA/second/rainy/report_work/final_media/image2.png</a:t>
            </a:r>
          </a:p>
          <a:p>
            <a:r>
              <a:t>- D:/RA/second/rainy/src/yolo_detector.c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识别成功并不是立刻推料。系统先锁定目标，再根据画面位置做对齐；到达设定位置后，步进电机停止，舵机执行推料和复位。动作完成后进入返回与清空状态，确认目标离开后才重新识别，从而避免同一个电池被反复触发。</a:t>
            </a:r>
          </a:p>
          <a:p/>
          <a:p>
            <a:r>
              <a:t>[Sources]</a:t>
            </a:r>
          </a:p>
          <a:p>
            <a:r>
              <a:t>- D:/RA/second/rainy/report_work/final_media/image3.png</a:t>
            </a:r>
          </a:p>
          <a:p>
            <a:r>
              <a:t>- D:/RA/second/rainy/src/machine_control.c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总结来说，我们的亮点不是单独完成一次识别，而是用一颗 RA8P1 打通感知、推理、交互、执行和数据采集。后续我们会继续用实机数据做模型与机械参数标定，提升复杂环境下的识别稳定性和分拣一致性。谢谢各位评委老师。</a:t>
            </a:r>
          </a:p>
          <a:p/>
          <a:p>
            <a:r>
              <a:t>[Sources]</a:t>
            </a:r>
          </a:p>
          <a:p>
            <a:r>
              <a:t>- D:/RA/second/rainy/工程对接文档.md</a:t>
            </a:r>
          </a:p>
          <a:p>
            <a:r>
              <a:t>- D:/RA/second/rainy/RA8P1整机替代接线与迁移说明.md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1066800"/>
            <a:ext cx="533400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智能垃圾分类分拣系统</a:t>
            </a:r>
            <a:endParaRPr sz="42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2619375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基于瑞萨 RA8P1 的单芯片视觉控制方案</a:t>
            </a:r>
            <a:endParaRPr sz="1875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32766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 · 推理 · 交互 · 执行</a:t>
            </a:r>
            <a:endParaRPr sz="1425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47700" y="4029075"/>
            <a:ext cx="4000500" cy="28575"/>
          </a:xfrm>
          <a:prstGeom prst="rect">
            <a:avLst/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47700" y="4286250"/>
            <a:ext cx="495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全国大学生电子设计竞赛信息科技前沿专题赛 · 瑞萨杯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486525" y="514350"/>
            <a:ext cx="5076825" cy="5715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441" y="685800"/>
            <a:ext cx="4508993" cy="5372100"/>
          </a:xfrm>
          <a:prstGeom prst="roundRect">
            <a:avLst>
              <a:gd name="adj" fmla="val 2414"/>
            </a:avLst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47700" y="6324600"/>
            <a:ext cx="304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90550" y="3048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核心方案</a:t>
            </a:r>
            <a:endParaRPr sz="105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6286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RA8P1 完成视觉、交互与机电控制</a:t>
            </a:r>
            <a:endParaRPr sz="28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3238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90550" y="1409700"/>
            <a:ext cx="5905500" cy="4476750"/>
          </a:xfrm>
          <a:prstGeom prst="roundRect">
            <a:avLst>
              <a:gd name="adj" fmla="val 2128"/>
            </a:avLst>
          </a:prstGeom>
          <a:solidFill>
            <a:srgbClr val="F7F8FA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rcRect t="3603" b="3603"/>
          <a:stretch>
            <a:fillRect/>
          </a:stretch>
        </p:blipFill>
        <p:spPr>
          <a:xfrm>
            <a:off x="781050" y="1600200"/>
            <a:ext cx="5524500" cy="4095750"/>
          </a:xfrm>
          <a:prstGeom prst="roundRect">
            <a:avLst>
              <a:gd name="adj" fmla="val 1860"/>
            </a:avLst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6934200" y="1466850"/>
            <a:ext cx="304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瑞萨 RA8P1</a:t>
            </a:r>
            <a:endParaRPr sz="217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934200" y="1895475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单芯片构建完整智能分拣控制核心</a:t>
            </a:r>
            <a:endParaRPr sz="1275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934200" y="25908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25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353300" y="2609850"/>
            <a:ext cx="38100" cy="581025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00950" y="2581275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Cortex-M85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00950" y="292417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实时任务调度与机电状态机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934200" y="35052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353300" y="3524250"/>
            <a:ext cx="38100" cy="581025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600950" y="3495675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Ethos-U55 NPU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00950" y="383857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192×192 int8 模型离线推理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934200" y="4419600"/>
            <a:ext cx="323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2E9D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2E9D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1">
              <a:solidFill>
                <a:srgbClr val="2E9D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353300" y="4438650"/>
            <a:ext cx="38100" cy="581025"/>
          </a:xfrm>
          <a:prstGeom prst="roundRect">
            <a:avLst>
              <a:gd name="adj" fmla="val 50000"/>
            </a:avLst>
          </a:prstGeom>
          <a:solidFill>
            <a:srgbClr val="2E9D67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600950" y="4410075"/>
            <a:ext cx="33337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丰富外设接口</a:t>
            </a:r>
            <a:endParaRPr sz="16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00950" y="4752975"/>
            <a:ext cx="352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摄像头、屏幕、触摸、称重与电机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934200" y="5391150"/>
            <a:ext cx="4191000" cy="419100"/>
          </a:xfrm>
          <a:prstGeom prst="roundRect">
            <a:avLst>
              <a:gd name="adj" fmla="val 13636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143750" y="54959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视觉识别结果直接进入分拣控制状态机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6486525"/>
            <a:ext cx="11010900" cy="9525"/>
          </a:xfrm>
          <a:prstGeom prst="rect">
            <a:avLst/>
          </a:prstGeom>
          <a:solidFill>
            <a:srgbClr val="D9DEE7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657225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90550" y="3048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105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6286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一颗芯片串起感知、推理、执行与交互</a:t>
            </a:r>
            <a:endParaRPr sz="28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3238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90550" y="1352550"/>
            <a:ext cx="11010900" cy="4362450"/>
          </a:xfrm>
          <a:prstGeom prst="roundRect">
            <a:avLst>
              <a:gd name="adj" fmla="val 2183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0" y="1495425"/>
            <a:ext cx="6667500" cy="4000500"/>
          </a:xfrm>
          <a:prstGeom prst="rect">
            <a:avLst/>
          </a:prstGeom>
        </p:spPr>
      </p:pic>
      <p:sp>
        <p:nvSpPr>
          <p:cNvPr id="6" name="圆角矩形 5"/>
          <p:cNvSpPr>
            <a:spLocks noGrp="1"/>
          </p:cNvSpPr>
          <p:nvPr/>
        </p:nvSpPr>
        <p:spPr>
          <a:xfrm>
            <a:off x="590550" y="5876925"/>
            <a:ext cx="11010900" cy="457200"/>
          </a:xfrm>
          <a:prstGeom prst="roundRect">
            <a:avLst>
              <a:gd name="adj" fmla="val 12500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790575" y="59912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OV5640 / CEU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24225" y="59912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DD3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Ethos-U55 / YOLO</a:t>
            </a:r>
            <a:endParaRPr sz="1125" b="1">
              <a:solidFill>
                <a:srgbClr val="7DD3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57900" y="59912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DB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 / PWM / UART</a:t>
            </a:r>
            <a:endParaRPr sz="1125" b="1">
              <a:solidFill>
                <a:srgbClr val="FDB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172575" y="599122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1">
                <a:solidFill>
                  <a:srgbClr val="86EF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6EF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 · 触摸 · TF卡</a:t>
            </a:r>
            <a:endParaRPr sz="1125" b="1">
              <a:solidFill>
                <a:srgbClr val="86EF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F360BE8B-6686-4F3D-AEAF-501FE73E4058-1" descr="C:/Users/Rainy/AppData/Local/Temp/绘图1.png绘图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825" y="2051050"/>
            <a:ext cx="6688455" cy="30511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90550" y="3048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边缘智能</a:t>
            </a:r>
            <a:endParaRPr sz="105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6286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192×192 量化模型完成四类离线识别</a:t>
            </a:r>
            <a:endParaRPr sz="28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3238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590550" y="1390650"/>
            <a:ext cx="7239000" cy="4362450"/>
          </a:xfrm>
          <a:prstGeom prst="roundRect">
            <a:avLst>
              <a:gd name="adj" fmla="val 2183"/>
            </a:avLst>
          </a:prstGeom>
          <a:solidFill>
            <a:srgbClr val="F7F8FA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132610"/>
            <a:ext cx="6819900" cy="287852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8172450" y="1438275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只采用最高置信度目标</a:t>
            </a:r>
            <a:endParaRPr sz="17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72450" y="18669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减少多目标干扰，让控制对象唯一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172450" y="2628900"/>
            <a:ext cx="133350" cy="457200"/>
          </a:xfrm>
          <a:prstGeom prst="roundRect">
            <a:avLst>
              <a:gd name="adj" fmla="val 28571"/>
            </a:avLst>
          </a:prstGeom>
          <a:solidFill>
            <a:srgbClr val="E5484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477250" y="26479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有害垃圾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77250" y="29051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HARM</a:t>
            </a:r>
            <a:endParaRPr sz="900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172450" y="3314700"/>
            <a:ext cx="133350" cy="457200"/>
          </a:xfrm>
          <a:prstGeom prst="roundRect">
            <a:avLst>
              <a:gd name="adj" fmla="val 28571"/>
            </a:avLst>
          </a:prstGeom>
          <a:solidFill>
            <a:srgbClr val="2E9D67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77250" y="33337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厨余垃圾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477250" y="35909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KITCHEN</a:t>
            </a:r>
            <a:endParaRPr sz="900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8172450" y="4000500"/>
            <a:ext cx="133350" cy="457200"/>
          </a:xfrm>
          <a:prstGeom prst="roundRect">
            <a:avLst>
              <a:gd name="adj" fmla="val 28571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477250" y="40195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可回收物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42767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RECOVER</a:t>
            </a:r>
            <a:endParaRPr sz="900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172450" y="4686300"/>
            <a:ext cx="133350" cy="457200"/>
          </a:xfrm>
          <a:prstGeom prst="roundRect">
            <a:avLst>
              <a:gd name="adj" fmla="val 28571"/>
            </a:avLst>
          </a:prstGeom>
          <a:solidFill>
            <a:srgbClr val="F1B90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77250" y="470535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其他垃圾</a:t>
            </a:r>
            <a:endParaRPr sz="1425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77250" y="4962525"/>
            <a:ext cx="152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</a:t>
            </a:r>
            <a:endParaRPr sz="900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72450" y="5562600"/>
            <a:ext cx="2952750" cy="19050"/>
          </a:xfrm>
          <a:prstGeom prst="rect">
            <a:avLst/>
          </a:prstGeom>
          <a:solidFill>
            <a:srgbClr val="D9DEE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172450" y="5695950"/>
            <a:ext cx="314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本地推理 · 无需云端 · 结果直接驱动执行</a:t>
            </a:r>
            <a:endParaRPr sz="120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90550" y="6486525"/>
            <a:ext cx="11010900" cy="9525"/>
          </a:xfrm>
          <a:prstGeom prst="rect">
            <a:avLst/>
          </a:prstGeom>
          <a:solidFill>
            <a:srgbClr val="D9DEE7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90550" y="657225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90550" y="3048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分拣闭环</a:t>
            </a:r>
            <a:endParaRPr sz="105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62865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识别结果被转化为可重复的机械动作</a:t>
            </a:r>
            <a:endParaRPr sz="28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315700" y="3238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28650" y="147637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69E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500" b="1">
              <a:solidFill>
                <a:srgbClr val="1769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1219200" y="1524000"/>
            <a:ext cx="38100" cy="704850"/>
          </a:xfrm>
          <a:prstGeom prst="roundRect">
            <a:avLst>
              <a:gd name="adj" fmla="val 50000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66850" y="14763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识别锁定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66850" y="188595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连续帧确认类别与置信度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8650" y="273367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9731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500" b="1">
              <a:solidFill>
                <a:srgbClr val="F9731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219200" y="2781300"/>
            <a:ext cx="38100" cy="70485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27336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视觉对齐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314325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根据目标位置修正传送带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8650" y="3990975"/>
            <a:ext cx="523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2E9D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E9D6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500" b="1">
              <a:solidFill>
                <a:srgbClr val="2E9D6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219200" y="4038600"/>
            <a:ext cx="38100" cy="704850"/>
          </a:xfrm>
          <a:prstGeom prst="roundRect">
            <a:avLst>
              <a:gd name="adj" fmla="val 50000"/>
            </a:avLst>
          </a:prstGeom>
          <a:solidFill>
            <a:srgbClr val="2E9D67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66850" y="3990975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输送与推料</a:t>
            </a:r>
            <a:endParaRPr sz="180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466850" y="4400550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B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步进定位，舵机完成分类</a:t>
            </a:r>
            <a:endParaRPr sz="1200" b="0">
              <a:solidFill>
                <a:srgbClr val="5B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762500" y="1390650"/>
            <a:ext cx="6838950" cy="4610100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</p:spPr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0" y="1956294"/>
            <a:ext cx="6457950" cy="3440711"/>
          </a:xfrm>
          <a:prstGeom prst="rect">
            <a:avLst/>
          </a:prstGeom>
        </p:spPr>
      </p:pic>
      <p:sp>
        <p:nvSpPr>
          <p:cNvPr id="18" name="圆角矩形 17"/>
          <p:cNvSpPr>
            <a:spLocks noGrp="1"/>
          </p:cNvSpPr>
          <p:nvPr/>
        </p:nvSpPr>
        <p:spPr>
          <a:xfrm>
            <a:off x="590550" y="5438775"/>
            <a:ext cx="3714750" cy="552450"/>
          </a:xfrm>
          <a:prstGeom prst="roundRect">
            <a:avLst>
              <a:gd name="adj" fmla="val 12069"/>
            </a:avLst>
          </a:prstGeom>
          <a:solidFill>
            <a:srgbClr val="111827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55626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444"/>
          </a:bodyPr>
          <a:lstStyle/>
          <a:p>
            <a:pPr algn="l">
              <a:def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防重复：锁定一次目标，完成 RETURN / CLEAR 后再重新识别</a:t>
            </a:r>
            <a:endParaRPr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90550" y="6486525"/>
            <a:ext cx="11010900" cy="9525"/>
          </a:xfrm>
          <a:prstGeom prst="rect">
            <a:avLst/>
          </a:prstGeom>
          <a:solidFill>
            <a:srgbClr val="D9DEE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90550" y="657225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11315700" y="3238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en-US" sz="975" b="1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lang="en-US" sz="975" b="1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90550" y="6486525"/>
            <a:ext cx="11010900" cy="9525"/>
          </a:xfrm>
          <a:prstGeom prst="rect">
            <a:avLst/>
          </a:prstGeom>
          <a:solidFill>
            <a:srgbClr val="D9DEE7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590550" y="6572250"/>
            <a:ext cx="6858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8A94A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全国大学生电子设计竞赛信息科技前沿专题赛 · 瑞萨杯</a:t>
            </a:r>
            <a:endParaRPr sz="825" b="0">
              <a:solidFill>
                <a:srgbClr val="8A94A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1000125"/>
            <a:ext cx="5391150" cy="54102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055" y="1700530"/>
            <a:ext cx="5286375" cy="3971925"/>
          </a:xfrm>
          <a:prstGeom prst="rect">
            <a:avLst/>
          </a:prstGeom>
        </p:spPr>
      </p:pic>
      <p:sp>
        <p:nvSpPr>
          <p:cNvPr id="24" name="矩形 23"/>
          <p:cNvSpPr>
            <a:spLocks noGrp="1"/>
          </p:cNvSpPr>
          <p:nvPr/>
        </p:nvSpPr>
        <p:spPr>
          <a:xfrm>
            <a:off x="47625" y="353060"/>
            <a:ext cx="10572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p>
            <a:pPr algn="l">
              <a:defRPr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RA8P1</a:t>
            </a:r>
            <a:r>
              <a:rPr lang="zh-CN" altLang="en-US"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拓展板与电源供电板</a:t>
            </a:r>
            <a:r>
              <a:rPr lang="en-US" altLang="zh-CN"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PCB</a:t>
            </a:r>
            <a:r>
              <a:rPr lang="zh-CN" altLang="en-US" sz="2850" b="1">
                <a:solidFill>
                  <a:srgbClr val="11182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altLang="en-US" sz="2850" b="1">
              <a:solidFill>
                <a:srgbClr val="11182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590550" y="381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8DB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DB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作品价值</a:t>
            </a:r>
            <a:endParaRPr sz="1050" b="1">
              <a:solidFill>
                <a:srgbClr val="8DBE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90550" y="7810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RA8P1 同时成为眼睛、大脑和控制器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90550" y="1438275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>
                <a:solidFill>
                  <a:srgbClr val="C7CF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C7CF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从识别到执行，再到现场数据回流，形成完整可演示闭环。</a:t>
            </a:r>
            <a:endParaRPr sz="1425" b="0">
              <a:solidFill>
                <a:srgbClr val="C7CF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90550" y="2333625"/>
            <a:ext cx="3371850" cy="2171700"/>
          </a:xfrm>
          <a:prstGeom prst="roundRect">
            <a:avLst>
              <a:gd name="adj" fmla="val 4386"/>
            </a:avLst>
          </a:prstGeom>
          <a:solidFill>
            <a:srgbClr val="1A2230"/>
          </a:solidFill>
          <a:ln w="9525">
            <a:solidFill>
              <a:srgbClr val="303B4A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0550" y="2333625"/>
            <a:ext cx="3371850" cy="66675"/>
          </a:xfrm>
          <a:prstGeom prst="roundRect">
            <a:avLst>
              <a:gd name="adj" fmla="val 42857"/>
            </a:avLst>
          </a:prstGeom>
          <a:solidFill>
            <a:srgbClr val="1769E0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57250" y="266700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65735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颗 RA8P1</a:t>
            </a:r>
            <a:endParaRPr sz="1725" b="1">
              <a:solidFill>
                <a:srgbClr val="DCE2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57250" y="3676650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统一视觉推理与整机控制</a:t>
            </a:r>
            <a:endParaRPr sz="1200" b="0">
              <a:solidFill>
                <a:srgbClr val="AEB7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267200" y="2333625"/>
            <a:ext cx="3371850" cy="2171700"/>
          </a:xfrm>
          <a:prstGeom prst="roundRect">
            <a:avLst>
              <a:gd name="adj" fmla="val 4386"/>
            </a:avLst>
          </a:prstGeom>
          <a:solidFill>
            <a:srgbClr val="1A2230"/>
          </a:solidFill>
          <a:ln w="9525">
            <a:solidFill>
              <a:srgbClr val="303B4A"/>
            </a:solidFill>
            <a:prstDash val="solid"/>
          </a:ln>
        </p:spPr>
      </p:sp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267200" y="2333625"/>
            <a:ext cx="3371850" cy="66675"/>
          </a:xfrm>
          <a:prstGeom prst="roundRect">
            <a:avLst>
              <a:gd name="adj" fmla="val 42857"/>
            </a:avLst>
          </a:prstGeom>
          <a:solidFill>
            <a:srgbClr val="F9731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533900" y="266700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33400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类垃圾</a:t>
            </a:r>
            <a:endParaRPr sz="1725" b="1">
              <a:solidFill>
                <a:srgbClr val="DCE2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533900" y="3676650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最高置信度目标离线识别</a:t>
            </a:r>
            <a:endParaRPr sz="1200" b="0">
              <a:solidFill>
                <a:srgbClr val="AEB7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943850" y="2333625"/>
            <a:ext cx="3371850" cy="2171700"/>
          </a:xfrm>
          <a:prstGeom prst="roundRect">
            <a:avLst>
              <a:gd name="adj" fmla="val 4386"/>
            </a:avLst>
          </a:prstGeom>
          <a:solidFill>
            <a:srgbClr val="1A2230"/>
          </a:solidFill>
          <a:ln w="9525">
            <a:solidFill>
              <a:srgbClr val="303B4A"/>
            </a:solidFill>
            <a:prstDash val="solid"/>
          </a:ln>
        </p:spPr>
      </p:sp>
      <p:sp>
        <p:nvSpPr>
          <p:cNvPr id="15" name="圆角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943850" y="2333625"/>
            <a:ext cx="3371850" cy="66675"/>
          </a:xfrm>
          <a:prstGeom prst="roundRect">
            <a:avLst>
              <a:gd name="adj" fmla="val 42857"/>
            </a:avLst>
          </a:prstGeom>
          <a:solidFill>
            <a:srgbClr val="2E9D67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210550" y="2667000"/>
            <a:ext cx="95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4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01065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CE2E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套闭环</a:t>
            </a:r>
            <a:endParaRPr sz="1725" b="1">
              <a:solidFill>
                <a:srgbClr val="DCE2E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210550" y="3676650"/>
            <a:ext cx="2800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AEB7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触摸、称重、执行与 TF 采集</a:t>
            </a:r>
            <a:endParaRPr sz="1200" b="0">
              <a:solidFill>
                <a:srgbClr val="AEB7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0550" y="5010150"/>
            <a:ext cx="11010900" cy="9525"/>
          </a:xfrm>
          <a:prstGeom prst="rect">
            <a:avLst/>
          </a:prstGeom>
          <a:solidFill>
            <a:srgbClr val="364152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0550" y="527685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90550" y="62293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>
                <a:solidFill>
                  <a:srgbClr val="8DB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8DBE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谢谢各位评委老师</a:t>
            </a:r>
            <a:endParaRPr sz="1200" b="1">
              <a:solidFill>
                <a:srgbClr val="8DBE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277600" y="6229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00" b="1">
                <a:solidFill>
                  <a:srgbClr val="7782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77829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>
              <a:solidFill>
                <a:srgbClr val="77829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2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3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4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5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6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7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8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9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0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1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2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3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4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ags/tag15.xml><?xml version="1.0" encoding="utf-8"?>
<p:tagLst xmlns:p="http://schemas.openxmlformats.org/presentationml/2006/main">
  <p:tag name="KSO_WM_DIAGRAM_VIRTUALLY_FRAME" val="{&quot;height&quot;:171,&quot;left&quot;:46.5,&quot;top&quot;:183.75,&quot;width&quot;:844.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761</Words>
  <Application>WPS 演示</Application>
  <PresentationFormat>Converted Presentation</PresentationFormat>
  <Paragraphs>148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Nanase</cp:lastModifiedBy>
  <cp:revision>5</cp:revision>
  <dcterms:created xsi:type="dcterms:W3CDTF">2026-08-16T09:14:00Z</dcterms:created>
  <dcterms:modified xsi:type="dcterms:W3CDTF">2026-08-17T05:55:12Z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35DF95BFCC6A4A87B4626A86B002B63A_12</vt:lpwstr>
  </property>
  <property fmtid="{D5CDD505-2E9C-101B-9397-08002B2CF9AE}" pid="3" name="KSOProductBuildVer">
    <vt:lpwstr>2052-12.1.0.19302</vt:lpwstr>
  </property>
</Properties>
</file>